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473952"/>
            <a:ext cx="11311128" cy="0"/>
          </a:xfrm>
          <a:prstGeom prst="line">
            <a:avLst/>
          </a:prstGeom>
          <a:noFill/>
          <a:ln w="9525">
            <a:solidFill>
              <a:srgbClr val="D8E2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73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FUEL PRICES &amp; TAXATION TRENDS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492240" y="6510528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35" kern="0" dirty="0">
                <a:solidFill>
                  <a:srgbClr val="7383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VIDHI SHARMA  •  MEDICAPS UNIVERSITY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7589520" y="-1005840"/>
            <a:ext cx="5303520" cy="5303520"/>
          </a:xfrm>
          <a:prstGeom prst="arc">
            <a:avLst/>
          </a:prstGeom>
          <a:solidFill>
            <a:srgbClr val="10233F">
              <a:alpha val="0"/>
            </a:srgbClr>
          </a:solidFill>
          <a:ln w="15240">
            <a:solidFill>
              <a:srgbClr val="235078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900000">
            <a:off x="8138160" y="-274320"/>
            <a:ext cx="4389120" cy="4389120"/>
          </a:xfrm>
          <a:prstGeom prst="arc">
            <a:avLst/>
          </a:prstGeom>
          <a:solidFill>
            <a:srgbClr val="10233F">
              <a:alpha val="0"/>
            </a:srgbClr>
          </a:solidFill>
          <a:ln w="13970">
            <a:solidFill>
              <a:srgbClr val="2C6687">
                <a:alpha val="8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900000">
            <a:off x="8686800" y="365760"/>
            <a:ext cx="3383280" cy="3383280"/>
          </a:xfrm>
          <a:prstGeom prst="arc">
            <a:avLst/>
          </a:prstGeom>
          <a:solidFill>
            <a:srgbClr val="10233F">
              <a:alpha val="0"/>
            </a:srgbClr>
          </a:solidFill>
          <a:ln w="15240">
            <a:solidFill>
              <a:srgbClr val="38B6C8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04088"/>
            <a:ext cx="2331720" cy="347472"/>
          </a:xfrm>
          <a:prstGeom prst="roundRect">
            <a:avLst>
              <a:gd name="adj" fmla="val 39474"/>
            </a:avLst>
          </a:prstGeom>
          <a:solidFill>
            <a:srgbClr val="163A5F"/>
          </a:solidFill>
          <a:ln w="12700">
            <a:solidFill>
              <a:srgbClr val="163A5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758952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30" kern="0" dirty="0">
                <a:solidFill>
                  <a:srgbClr val="BCE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• DATA ANALYTICS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41732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Fuel Prices</a:t>
            </a:r>
            <a:endParaRPr lang="en-US" sz="3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Taxation Trends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063240"/>
            <a:ext cx="7132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4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comparative analysis of petrol prices, crude oil, regional taxation, subsidies and income levels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416052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4752" y="4160520"/>
            <a:ext cx="310896" cy="54864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10512" y="4160520"/>
            <a:ext cx="164592" cy="54864"/>
          </a:xfrm>
          <a:prstGeom prst="roundRect">
            <a:avLst>
              <a:gd name="adj" fmla="val 50000"/>
            </a:avLst>
          </a:prstGeom>
          <a:solidFill>
            <a:srgbClr val="F4C95D"/>
          </a:solidFill>
          <a:ln w="12700">
            <a:solidFill>
              <a:srgbClr val="F4C95D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6177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0" kern="0" dirty="0">
                <a:solidFill>
                  <a:srgbClr val="8FB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PRESENTED BY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4892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Vidhi Sharma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532180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6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en25cs3011043@medicaps.ac.in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61722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B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Medicaps University  |  October 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3246120"/>
            <a:ext cx="3611880" cy="2121408"/>
          </a:xfrm>
          <a:prstGeom prst="roundRect">
            <a:avLst>
              <a:gd name="adj" fmla="val 7759"/>
            </a:avLst>
          </a:prstGeom>
          <a:solidFill>
            <a:srgbClr val="142E4F"/>
          </a:solidFill>
          <a:ln w="12700">
            <a:solidFill>
              <a:srgbClr val="2A4C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73568" y="3429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10" kern="0" dirty="0">
                <a:solidFill>
                  <a:srgbClr val="9BC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PRICE SNAPSHOT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28432" y="4506163"/>
            <a:ext cx="210312" cy="321869"/>
          </a:xfrm>
          <a:prstGeom prst="roundRect">
            <a:avLst>
              <a:gd name="adj" fmla="val 1739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21624" y="4304995"/>
            <a:ext cx="210312" cy="523037"/>
          </a:xfrm>
          <a:prstGeom prst="roundRect">
            <a:avLst>
              <a:gd name="adj" fmla="val 1739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14816" y="4415638"/>
            <a:ext cx="210312" cy="412394"/>
          </a:xfrm>
          <a:prstGeom prst="roundRect">
            <a:avLst>
              <a:gd name="adj" fmla="val 1739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8008" y="4093769"/>
            <a:ext cx="210312" cy="734263"/>
          </a:xfrm>
          <a:prstGeom prst="roundRect">
            <a:avLst>
              <a:gd name="adj" fmla="val 1739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0" y="4184294"/>
            <a:ext cx="210312" cy="643738"/>
          </a:xfrm>
          <a:prstGeom prst="roundRect">
            <a:avLst>
              <a:gd name="adj" fmla="val 1739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94392" y="3963010"/>
            <a:ext cx="210312" cy="865022"/>
          </a:xfrm>
          <a:prstGeom prst="roundRect">
            <a:avLst>
              <a:gd name="adj" fmla="val 1739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387584" y="4244645"/>
            <a:ext cx="210312" cy="583387"/>
          </a:xfrm>
          <a:prstGeom prst="roundRect">
            <a:avLst>
              <a:gd name="adj" fmla="val 1739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0776" y="4063594"/>
            <a:ext cx="210312" cy="764438"/>
          </a:xfrm>
          <a:prstGeom prst="roundRect">
            <a:avLst>
              <a:gd name="adj" fmla="val 1739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4864608"/>
            <a:ext cx="3246120" cy="0"/>
          </a:xfrm>
          <a:prstGeom prst="line">
            <a:avLst/>
          </a:prstGeom>
          <a:noFill/>
          <a:ln w="10160">
            <a:solidFill>
              <a:srgbClr val="56728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73568" y="49834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spc="35" kern="0" dirty="0">
                <a:solidFill>
                  <a:srgbClr val="AFC5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  •   TAX   •   REGION   •   TIME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project explores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Tableau dashboard for comparing fuel-price patterns across countries, regions and socio-economic categories.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766560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64208"/>
            <a:ext cx="64008" cy="1920240"/>
          </a:xfrm>
          <a:prstGeom prst="roundRect">
            <a:avLst>
              <a:gd name="adj" fmla="val 71429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01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3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SUMMARY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40280"/>
            <a:ext cx="6053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Fuel prices are shaped by multiple factors—not only the cost of crude oil, but also taxation, subsidies, policy choices, transport costs and local market conditions.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18211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project uses interactive visual analytics to make those comparisons easier to explore.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1664208"/>
            <a:ext cx="1783080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1664208"/>
            <a:ext cx="64008" cy="1353312"/>
          </a:xfrm>
          <a:prstGeom prst="roundRect">
            <a:avLst>
              <a:gd name="adj" fmla="val 71429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82880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2494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Countries in price ranking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Top-price comparison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573768" y="1664208"/>
            <a:ext cx="1975104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73768" y="1664208"/>
            <a:ext cx="64008" cy="1353312"/>
          </a:xfrm>
          <a:prstGeom prst="roundRect">
            <a:avLst>
              <a:gd name="adj" fmla="val 71429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56648" y="1828800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9756648" y="2249424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groups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756648" y="251460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tax comparison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589520" y="3200400"/>
            <a:ext cx="1783080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0" y="3200400"/>
            <a:ext cx="64008" cy="1353312"/>
          </a:xfrm>
          <a:prstGeom prst="roundRect">
            <a:avLst>
              <a:gd name="adj" fmla="val 71429"/>
            </a:avLst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0" y="336499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37856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/ context lenses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40507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Tax, subsidy, income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573768" y="3200400"/>
            <a:ext cx="1975104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73768" y="3200400"/>
            <a:ext cx="64008" cy="1353312"/>
          </a:xfrm>
          <a:prstGeom prst="roundRect">
            <a:avLst>
              <a:gd name="adj" fmla="val 71429"/>
            </a:avLst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756648" y="3364992"/>
            <a:ext cx="16550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500" dirty="0"/>
          </a:p>
        </p:txBody>
      </p:sp>
      <p:sp>
        <p:nvSpPr>
          <p:cNvPr id="28" name="Text 26"/>
          <p:cNvSpPr txBox="1"/>
          <p:nvPr/>
        </p:nvSpPr>
        <p:spPr>
          <a:xfrm>
            <a:off x="9756648" y="3785616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series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756648" y="405079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Petrol and Brent crude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968496"/>
            <a:ext cx="6766560" cy="1298448"/>
          </a:xfrm>
          <a:prstGeom prst="roundRect">
            <a:avLst>
              <a:gd name="adj" fmla="val 11268"/>
            </a:avLst>
          </a:prstGeom>
          <a:solidFill>
            <a:srgbClr val="EAF3FB"/>
          </a:solidFill>
          <a:ln w="12700">
            <a:solidFill>
              <a:srgbClr val="D7E6F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10" kern="0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OUTPUT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517136"/>
            <a:ext cx="5989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multi-view dashboard with a map, trend view, country ranking, regional tax comparison, and subsidy / income breakdowns.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" y="5806440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Note: Counts describe the views shown in the current Tableau dashboard. Figures are taken from visible dashboard labels and should be checked against the source data before final submission.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the dashboard is designed to answer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is descriptive: it compares visible patterns and associations rather than proving cause and effect.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664208"/>
            <a:ext cx="523036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664208"/>
            <a:ext cx="64008" cy="1353312"/>
          </a:xfrm>
          <a:prstGeom prst="roundRect">
            <a:avLst>
              <a:gd name="adj" fmla="val 71429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8366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38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1865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countries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2231136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which countries have the highest displayed average petrol prices.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35624" y="1664208"/>
            <a:ext cx="523036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35624" y="1664208"/>
            <a:ext cx="64008" cy="1353312"/>
          </a:xfrm>
          <a:prstGeom prst="roundRect">
            <a:avLst>
              <a:gd name="adj" fmla="val 71429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188366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976872" y="1865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regions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231136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how average fuel-tax percentages vary by region.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" y="3328416"/>
            <a:ext cx="523036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" y="3328416"/>
            <a:ext cx="64008" cy="1353312"/>
          </a:xfrm>
          <a:prstGeom prst="roundRect">
            <a:avLst>
              <a:gd name="adj" fmla="val 71429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5478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529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time trends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44752" y="3895344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 petrol-price movement over time alongside Brent crude oil.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35624" y="3328416"/>
            <a:ext cx="5230368" cy="1353312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35624" y="3328416"/>
            <a:ext cx="64008" cy="1353312"/>
          </a:xfrm>
          <a:prstGeom prst="roundRect">
            <a:avLst>
              <a:gd name="adj" fmla="val 71429"/>
            </a:avLst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35478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786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35295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context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76872" y="3895344"/>
            <a:ext cx="3977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average petrol prices across subsidy and income categories.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3504" y="5138928"/>
            <a:ext cx="10762488" cy="694944"/>
          </a:xfrm>
          <a:prstGeom prst="roundRect">
            <a:avLst>
              <a:gd name="adj" fmla="val 21053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" y="53035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10" kern="0" dirty="0">
                <a:solidFill>
                  <a:srgbClr val="38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249424" y="525780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displayed fuel prices differ across places and policy categories—and what should we investigate next?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METHOD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dataset to interactive dashboard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workbook’s current views indicate the following fields and analytical steps. Confirm field names and units in the final data source.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85216" y="1645920"/>
            <a:ext cx="4892040" cy="4370832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01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 USED IN THE VIEWS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30428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30428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Country, Region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633472"/>
            <a:ext cx="4279392" cy="0"/>
          </a:xfrm>
          <a:prstGeom prst="line">
            <a:avLst/>
          </a:prstGeom>
          <a:noFill/>
          <a:ln w="8890">
            <a:solidFill>
              <a:srgbClr val="DCE5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281635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81635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/ quarter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3145536"/>
            <a:ext cx="4279392" cy="0"/>
          </a:xfrm>
          <a:prstGeom prst="line">
            <a:avLst/>
          </a:prstGeom>
          <a:noFill/>
          <a:ln w="8890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9536" y="3328416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32841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petrol price (USD/L)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3657600"/>
            <a:ext cx="4279392" cy="0"/>
          </a:xfrm>
          <a:prstGeom prst="line">
            <a:avLst/>
          </a:prstGeom>
          <a:noFill/>
          <a:ln w="889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3840480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Crude oil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384048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Brent crude (USD/bbl)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4169664"/>
            <a:ext cx="4279392" cy="0"/>
          </a:xfrm>
          <a:prstGeom prst="line">
            <a:avLst/>
          </a:prstGeom>
          <a:noFill/>
          <a:ln w="8890">
            <a:solidFill>
              <a:srgbClr val="DCE5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4352544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435254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as % of fuel price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" y="4681728"/>
            <a:ext cx="4279392" cy="0"/>
          </a:xfrm>
          <a:prstGeom prst="line">
            <a:avLst/>
          </a:prstGeom>
          <a:noFill/>
          <a:ln w="8890">
            <a:solidFill>
              <a:srgbClr val="DCE5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4864608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057400" y="486460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Income level, subsidy level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42432" y="1645920"/>
            <a:ext cx="5779008" cy="4370832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16752" y="19019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 WORKFLOW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53328" y="2286000"/>
            <a:ext cx="356616" cy="356616"/>
          </a:xfrm>
          <a:prstGeom prst="ellipse">
            <a:avLst/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80760" y="236829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26771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644384" y="22677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Tableau to the source file.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53328" y="2944368"/>
            <a:ext cx="356616" cy="356616"/>
          </a:xfrm>
          <a:prstGeom prst="ellipse">
            <a:avLst/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80760" y="3026664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292608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644384" y="2926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data types, missing values, units and dates.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53328" y="3602736"/>
            <a:ext cx="356616" cy="356616"/>
          </a:xfrm>
          <a:prstGeom prst="ellipse">
            <a:avLst/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80760" y="3685032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0" y="3584448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644384" y="358444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measures and build comparative charts.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53328" y="4261104"/>
            <a:ext cx="356616" cy="356616"/>
          </a:xfrm>
          <a:prstGeom prst="ellipse">
            <a:avLst/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80760" y="4343400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0" y="4242816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644384" y="42428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 worksheets and add region / income / subsidy filters.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53328" y="4919472"/>
            <a:ext cx="356616" cy="356616"/>
          </a:xfrm>
          <a:prstGeom prst="ellipse">
            <a:avLst/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080760" y="5001768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490118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644384" y="490118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displayed figures with the CSV before reporting.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OVERVIEW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dashboard, multiple ways to compare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workbook brings together geographic, time-series and category comparisons in a single view.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591056"/>
            <a:ext cx="7315200" cy="4370832"/>
          </a:xfrm>
          <a:prstGeom prst="roundRect">
            <a:avLst>
              <a:gd name="adj" fmla="val 3347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pic>
        <p:nvPicPr>
          <p:cNvPr id="6" name="Image 0" descr="/mnt/data/Screenshot 2026-10-27 1957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55648"/>
            <a:ext cx="7022592" cy="3776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2104" y="5605272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Tableau Desktop view (work in progress)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183880" y="1700784"/>
            <a:ext cx="3337560" cy="612648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83880" y="1700784"/>
            <a:ext cx="64008" cy="612648"/>
          </a:xfrm>
          <a:prstGeom prst="roundRect">
            <a:avLst>
              <a:gd name="adj" fmla="val 71429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181051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464040" y="1810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distribution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183880" y="2459736"/>
            <a:ext cx="3337560" cy="612648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83880" y="2459736"/>
            <a:ext cx="64008" cy="612648"/>
          </a:xfrm>
          <a:prstGeom prst="roundRect">
            <a:avLst>
              <a:gd name="adj" fmla="val 71429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25694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464040" y="2569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Petrol vs. crude oil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183880" y="3218688"/>
            <a:ext cx="3337560" cy="612648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3218688"/>
            <a:ext cx="64008" cy="612648"/>
          </a:xfrm>
          <a:prstGeom prst="roundRect">
            <a:avLst>
              <a:gd name="adj" fmla="val 71429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12480" y="33284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464040" y="33284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Top-priced countries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83880" y="3977640"/>
            <a:ext cx="3337560" cy="612648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83880" y="3977640"/>
            <a:ext cx="64008" cy="612648"/>
          </a:xfrm>
          <a:prstGeom prst="roundRect">
            <a:avLst>
              <a:gd name="adj" fmla="val 71429"/>
            </a:avLst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12480" y="40873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bars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464040" y="40873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tax percentage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183880" y="4736592"/>
            <a:ext cx="3337560" cy="612648"/>
          </a:xfrm>
          <a:prstGeom prst="roundRect">
            <a:avLst>
              <a:gd name="adj" fmla="val 2388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83880" y="4736592"/>
            <a:ext cx="64008" cy="612648"/>
          </a:xfrm>
          <a:prstGeom prst="roundRect">
            <a:avLst>
              <a:gd name="adj" fmla="val 71429"/>
            </a:avLst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12480" y="48463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bars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464040" y="48463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Subsidy and income levels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211312" y="5650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Interactivity: use the filters to explore how the displayed views change by region, income level and subsidy level.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COMPARISON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10 countries by displayed petrol price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petrol price (USD per litre) — values transcribed from the current Tableau view.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645920"/>
            <a:ext cx="7022592" cy="4526280"/>
          </a:xfrm>
          <a:prstGeom prst="roundRect">
            <a:avLst>
              <a:gd name="adj" fmla="val 323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1051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displayed average petrol prices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93976"/>
            <a:ext cx="6583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per litre • descending order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2908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Hong Kong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2212848" y="2720340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2720340"/>
            <a:ext cx="4188464" cy="190195"/>
          </a:xfrm>
          <a:prstGeom prst="roundRect">
            <a:avLst>
              <a:gd name="adj" fmla="val 28846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2688336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5.541</a:t>
            </a:r>
            <a:endParaRPr lang="en-US" sz="102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029407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Norway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2212848" y="3056839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3056839"/>
            <a:ext cx="3517977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3024835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4.654</a:t>
            </a:r>
            <a:endParaRPr lang="en-US" sz="102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3365906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Netherlands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2212848" y="3393338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12848" y="3393338"/>
            <a:ext cx="3434072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3361334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4.543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3702406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Denmark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2212848" y="3729838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12848" y="3729838"/>
            <a:ext cx="3316151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3697834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4.387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038905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Singapore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2212848" y="4066337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2848" y="4066337"/>
            <a:ext cx="3190671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2280" y="4034333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4.221</a:t>
            </a:r>
            <a:endParaRPr lang="en-US" sz="102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4375404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Sweden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2212848" y="4402836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12848" y="4402836"/>
            <a:ext cx="3112813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12280" y="4370832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4.118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804672" y="4711903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Switzerland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2212848" y="4739335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12848" y="4739335"/>
            <a:ext cx="3013789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12280" y="4707331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3.987</a:t>
            </a:r>
            <a:endParaRPr lang="en-US" sz="102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5048402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Belgium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2212848" y="5075834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12848" y="5075834"/>
            <a:ext cx="2926860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5043830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3.872</a:t>
            </a:r>
            <a:endParaRPr lang="en-US" sz="1020" dirty="0"/>
          </a:p>
        </p:txBody>
      </p:sp>
      <p:sp>
        <p:nvSpPr>
          <p:cNvPr id="40" name="Text 38"/>
          <p:cNvSpPr txBox="1"/>
          <p:nvPr/>
        </p:nvSpPr>
        <p:spPr>
          <a:xfrm>
            <a:off x="804672" y="5384902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Finland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2212848" y="5412334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212848" y="5412334"/>
            <a:ext cx="2842199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12280" y="5380330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3.760</a:t>
            </a:r>
            <a:endParaRPr lang="en-US" sz="1020" dirty="0"/>
          </a:p>
        </p:txBody>
      </p:sp>
      <p:sp>
        <p:nvSpPr>
          <p:cNvPr id="44" name="Text 42"/>
          <p:cNvSpPr txBox="1"/>
          <p:nvPr/>
        </p:nvSpPr>
        <p:spPr>
          <a:xfrm>
            <a:off x="804672" y="5721401"/>
            <a:ext cx="12801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Germany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2212848" y="5748833"/>
            <a:ext cx="4535424" cy="190195"/>
          </a:xfrm>
          <a:prstGeom prst="roundRect">
            <a:avLst>
              <a:gd name="adj" fmla="val 28846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12848" y="5748833"/>
            <a:ext cx="2755270" cy="190195"/>
          </a:xfrm>
          <a:prstGeom prst="roundRect">
            <a:avLst>
              <a:gd name="adj" fmla="val 28846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12280" y="5716829"/>
            <a:ext cx="56692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3.645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7936992" y="1645920"/>
            <a:ext cx="3584448" cy="19202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36992" y="1645920"/>
            <a:ext cx="64008" cy="1920240"/>
          </a:xfrm>
          <a:prstGeom prst="roundRect">
            <a:avLst>
              <a:gd name="adj" fmla="val 71429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11312" y="190195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10" kern="0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IN THIS VIEW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211312" y="226771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Hong Kong</a:t>
            </a:r>
            <a:endParaRPr lang="en-US" sz="2300" dirty="0"/>
          </a:p>
        </p:txBody>
      </p:sp>
      <p:sp>
        <p:nvSpPr>
          <p:cNvPr id="52" name="Text 50"/>
          <p:cNvSpPr txBox="1"/>
          <p:nvPr/>
        </p:nvSpPr>
        <p:spPr>
          <a:xfrm>
            <a:off x="8211312" y="2724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5.541 USD/L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8211312" y="31363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two entries are Norway and the Netherlands.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936992" y="3767328"/>
            <a:ext cx="3584448" cy="2404872"/>
          </a:xfrm>
          <a:prstGeom prst="roundRect">
            <a:avLst>
              <a:gd name="adj" fmla="val 6084"/>
            </a:avLst>
          </a:prstGeom>
          <a:solidFill>
            <a:srgbClr val="EAF3FB"/>
          </a:solidFill>
          <a:ln w="12700">
            <a:solidFill>
              <a:srgbClr val="D7E6F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211312" y="4050792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10" kern="0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INTERPRET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211312" y="4512564"/>
            <a:ext cx="82296" cy="82296"/>
          </a:xfrm>
          <a:prstGeom prst="ellipse">
            <a:avLst/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394192" y="441655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dashboard averages, not a claim about every fuel station.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211312" y="5125212"/>
            <a:ext cx="82296" cy="82296"/>
          </a:xfrm>
          <a:prstGeom prst="ellipse">
            <a:avLst/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394192" y="5029200"/>
            <a:ext cx="2670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ranking does not by itself explain why prices differ.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6199632"/>
            <a:ext cx="7498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note: verify against the project CSV before formal submission.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COMPARISON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Average tax as a share of fuel price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Percentages displayed in the current Tableau view; labels are reproduced as shown.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664208"/>
            <a:ext cx="7223760" cy="4434840"/>
          </a:xfrm>
          <a:prstGeom prst="roundRect">
            <a:avLst>
              <a:gd name="adj" fmla="val 329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6784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tax % of fuel price by region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12264"/>
            <a:ext cx="67848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tax share (%)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31820"/>
            <a:ext cx="1353312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Oceania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0" y="3159252"/>
            <a:ext cx="4572000" cy="253419"/>
          </a:xfrm>
          <a:prstGeom prst="roundRect">
            <a:avLst>
              <a:gd name="adj" fmla="val 21650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3159252"/>
            <a:ext cx="4211683" cy="253419"/>
          </a:xfrm>
          <a:prstGeom prst="roundRect">
            <a:avLst>
              <a:gd name="adj" fmla="val 21650"/>
            </a:avLst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22008" y="3127248"/>
            <a:ext cx="658368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38.69%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540687"/>
            <a:ext cx="1353312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3568119"/>
            <a:ext cx="4572000" cy="253419"/>
          </a:xfrm>
          <a:prstGeom prst="roundRect">
            <a:avLst>
              <a:gd name="adj" fmla="val 21650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3568119"/>
            <a:ext cx="3179717" cy="253419"/>
          </a:xfrm>
          <a:prstGeom prst="roundRect">
            <a:avLst>
              <a:gd name="adj" fmla="val 21650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3536115"/>
            <a:ext cx="658368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29.21%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3949555"/>
            <a:ext cx="1353312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America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0" y="3976987"/>
            <a:ext cx="4572000" cy="253419"/>
          </a:xfrm>
          <a:prstGeom prst="roundRect">
            <a:avLst>
              <a:gd name="adj" fmla="val 21650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3976987"/>
            <a:ext cx="2807426" cy="253419"/>
          </a:xfrm>
          <a:prstGeom prst="roundRect">
            <a:avLst>
              <a:gd name="adj" fmla="val 21650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22008" y="3944983"/>
            <a:ext cx="658368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25.79%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358422"/>
            <a:ext cx="1353312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Africa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0" y="4385854"/>
            <a:ext cx="4572000" cy="253419"/>
          </a:xfrm>
          <a:prstGeom prst="roundRect">
            <a:avLst>
              <a:gd name="adj" fmla="val 21650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4385854"/>
            <a:ext cx="2133600" cy="253419"/>
          </a:xfrm>
          <a:prstGeom prst="roundRect">
            <a:avLst>
              <a:gd name="adj" fmla="val 21650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22008" y="4353850"/>
            <a:ext cx="658368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19.60%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4767290"/>
            <a:ext cx="1353312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0" y="4794722"/>
            <a:ext cx="4572000" cy="253419"/>
          </a:xfrm>
          <a:prstGeom prst="roundRect">
            <a:avLst>
              <a:gd name="adj" fmla="val 21650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4794722"/>
            <a:ext cx="2133600" cy="253419"/>
          </a:xfrm>
          <a:prstGeom prst="roundRect">
            <a:avLst>
              <a:gd name="adj" fmla="val 21650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22008" y="4762718"/>
            <a:ext cx="658368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19.60%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5176157"/>
            <a:ext cx="1353312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East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286000" y="5203589"/>
            <a:ext cx="4572000" cy="253419"/>
          </a:xfrm>
          <a:prstGeom prst="roundRect">
            <a:avLst>
              <a:gd name="adj" fmla="val 21650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5203589"/>
            <a:ext cx="2133600" cy="253419"/>
          </a:xfrm>
          <a:prstGeom prst="roundRect">
            <a:avLst>
              <a:gd name="adj" fmla="val 21650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22008" y="5171585"/>
            <a:ext cx="658368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19.60%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04672" y="5585025"/>
            <a:ext cx="1353312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 America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0" y="5612457"/>
            <a:ext cx="4572000" cy="253419"/>
          </a:xfrm>
          <a:prstGeom prst="roundRect">
            <a:avLst>
              <a:gd name="adj" fmla="val 21650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0" y="5612457"/>
            <a:ext cx="1722120" cy="253419"/>
          </a:xfrm>
          <a:prstGeom prst="roundRect">
            <a:avLst>
              <a:gd name="adj" fmla="val 21650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22008" y="5580453"/>
            <a:ext cx="658368" cy="3174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15.82%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19872" y="1664208"/>
            <a:ext cx="34015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9872" y="1664208"/>
            <a:ext cx="64008" cy="1828800"/>
          </a:xfrm>
          <a:prstGeom prst="roundRect">
            <a:avLst>
              <a:gd name="adj" fmla="val 71429"/>
            </a:avLst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94192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DISPLAYED TAX SHARE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394192" y="23408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Oceania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2724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38.69%</a:t>
            </a:r>
            <a:endParaRPr lang="en-US" sz="2300" dirty="0"/>
          </a:p>
        </p:txBody>
      </p:sp>
      <p:sp>
        <p:nvSpPr>
          <p:cNvPr id="41" name="Shape 39"/>
          <p:cNvSpPr/>
          <p:nvPr/>
        </p:nvSpPr>
        <p:spPr>
          <a:xfrm>
            <a:off x="8119872" y="3694176"/>
            <a:ext cx="3401568" cy="2267712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19872" y="3694176"/>
            <a:ext cx="64008" cy="2267712"/>
          </a:xfrm>
          <a:prstGeom prst="roundRect">
            <a:avLst>
              <a:gd name="adj" fmla="val 71429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94192" y="3968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60" kern="0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DISPLAYED TAX SHARE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394192" y="43525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 America</a:t>
            </a:r>
            <a:endParaRPr lang="en-US" sz="1900" dirty="0"/>
          </a:p>
        </p:txBody>
      </p:sp>
      <p:sp>
        <p:nvSpPr>
          <p:cNvPr id="45" name="Text 43"/>
          <p:cNvSpPr txBox="1"/>
          <p:nvPr/>
        </p:nvSpPr>
        <p:spPr>
          <a:xfrm>
            <a:off x="8394192" y="4727448"/>
            <a:ext cx="27432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15.82%</a:t>
            </a:r>
            <a:endParaRPr lang="en-US" sz="2300" dirty="0"/>
          </a:p>
        </p:txBody>
      </p:sp>
      <p:sp>
        <p:nvSpPr>
          <p:cNvPr id="46" name="Text 44"/>
          <p:cNvSpPr txBox="1"/>
          <p:nvPr/>
        </p:nvSpPr>
        <p:spPr>
          <a:xfrm>
            <a:off x="8394192" y="5202936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regional averages use comparable country coverage and the same period.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COMPARISONS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Petrol prices by subsidy and income level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charts show association between the categories and the displayed average price; they do not establish causation.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700784"/>
            <a:ext cx="5431536" cy="425196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65376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price by subsidy level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992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per litre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68396"/>
            <a:ext cx="969264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01952" y="3195828"/>
            <a:ext cx="3255264" cy="425196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1952" y="3195828"/>
            <a:ext cx="120445" cy="425196"/>
          </a:xfrm>
          <a:prstGeom prst="roundRect">
            <a:avLst>
              <a:gd name="adj" fmla="val 45551"/>
            </a:avLst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21224" y="3163824"/>
            <a:ext cx="56692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0.148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867912"/>
            <a:ext cx="969264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01952" y="3895344"/>
            <a:ext cx="3255264" cy="425196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1952" y="3895344"/>
            <a:ext cx="576996" cy="425196"/>
          </a:xfrm>
          <a:prstGeom prst="roundRect">
            <a:avLst>
              <a:gd name="adj" fmla="val 12903"/>
            </a:avLst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21224" y="3863340"/>
            <a:ext cx="56692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0.709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567428"/>
            <a:ext cx="969264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901952" y="4594860"/>
            <a:ext cx="3255264" cy="425196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1952" y="4594860"/>
            <a:ext cx="1350121" cy="425196"/>
          </a:xfrm>
          <a:prstGeom prst="roundRect">
            <a:avLst>
              <a:gd name="adj" fmla="val 12903"/>
            </a:avLst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21224" y="4562856"/>
            <a:ext cx="56692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1.659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266944"/>
            <a:ext cx="969264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901952" y="5294376"/>
            <a:ext cx="3255264" cy="425196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1952" y="5294376"/>
            <a:ext cx="2808479" cy="425196"/>
          </a:xfrm>
          <a:prstGeom prst="roundRect">
            <a:avLst>
              <a:gd name="adj" fmla="val 12903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21224" y="5262372"/>
            <a:ext cx="566928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3.451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4496" y="1700784"/>
            <a:ext cx="5266944" cy="4251960"/>
          </a:xfrm>
          <a:prstGeom prst="roundRect">
            <a:avLst>
              <a:gd name="adj" fmla="val 3441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186537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price by income level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148840"/>
            <a:ext cx="4828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per litre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455664" y="3470148"/>
            <a:ext cx="896112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479792" y="3497580"/>
            <a:ext cx="3163824" cy="478536"/>
          </a:xfrm>
          <a:prstGeom prst="roundRect">
            <a:avLst>
              <a:gd name="adj" fmla="val 11465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79792" y="3497580"/>
            <a:ext cx="1098638" cy="478536"/>
          </a:xfrm>
          <a:prstGeom prst="roundRect">
            <a:avLst>
              <a:gd name="adj" fmla="val 11465"/>
            </a:avLst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07624" y="3465576"/>
            <a:ext cx="566928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1.389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455664" y="4341876"/>
            <a:ext cx="896112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79792" y="4369308"/>
            <a:ext cx="3163824" cy="478536"/>
          </a:xfrm>
          <a:prstGeom prst="roundRect">
            <a:avLst>
              <a:gd name="adj" fmla="val 11465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79792" y="4369308"/>
            <a:ext cx="1260784" cy="478536"/>
          </a:xfrm>
          <a:prstGeom prst="roundRect">
            <a:avLst>
              <a:gd name="adj" fmla="val 11465"/>
            </a:avLst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707624" y="4337304"/>
            <a:ext cx="566928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1.594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55664" y="5213604"/>
            <a:ext cx="896112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79792" y="5241036"/>
            <a:ext cx="3163824" cy="478536"/>
          </a:xfrm>
          <a:prstGeom prst="roundRect">
            <a:avLst>
              <a:gd name="adj" fmla="val 11465"/>
            </a:avLst>
          </a:prstGeom>
          <a:solidFill>
            <a:srgbClr val="EAF0F6"/>
          </a:solidFill>
          <a:ln w="12700">
            <a:solidFill>
              <a:srgbClr val="EAF0F6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79792" y="5241036"/>
            <a:ext cx="2805521" cy="478536"/>
          </a:xfrm>
          <a:prstGeom prst="roundRect">
            <a:avLst>
              <a:gd name="adj" fmla="val 11465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707624" y="5209032"/>
            <a:ext cx="566928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3.547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3504" y="6071616"/>
            <a:ext cx="10917936" cy="246888"/>
          </a:xfrm>
          <a:prstGeom prst="roundRect">
            <a:avLst>
              <a:gd name="adj" fmla="val 29630"/>
            </a:avLst>
          </a:prstGeom>
          <a:solidFill>
            <a:srgbClr val="FFF0E5"/>
          </a:solidFill>
          <a:ln w="12700">
            <a:solidFill>
              <a:srgbClr val="FFF0E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4672" y="6108192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8A4C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cautiously: category definitions, country coverage and other policy / market factors may affect these averages.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TIME-SERIES ANALYSIS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petrol prices with Brent crude over time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workbook uses a dual-axis trend view, so each series has its own scale and unit.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700784"/>
            <a:ext cx="6784848" cy="3611880"/>
          </a:xfrm>
          <a:prstGeom prst="roundRect">
            <a:avLst>
              <a:gd name="adj" fmla="val 4051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993392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38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VIEW COMPARES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0120" y="2587752"/>
            <a:ext cx="5961888" cy="0"/>
          </a:xfrm>
          <a:prstGeom prst="line">
            <a:avLst/>
          </a:prstGeom>
          <a:noFill/>
          <a:ln w="8890">
            <a:solidFill>
              <a:srgbClr val="3650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233928"/>
            <a:ext cx="5961888" cy="0"/>
          </a:xfrm>
          <a:prstGeom prst="line">
            <a:avLst/>
          </a:prstGeom>
          <a:noFill/>
          <a:ln w="8890">
            <a:solidFill>
              <a:srgbClr val="3650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880104"/>
            <a:ext cx="5961888" cy="0"/>
          </a:xfrm>
          <a:prstGeom prst="line">
            <a:avLst/>
          </a:prstGeom>
          <a:noFill/>
          <a:ln w="8890">
            <a:solidFill>
              <a:srgbClr val="3650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526280"/>
            <a:ext cx="5961888" cy="0"/>
          </a:xfrm>
          <a:prstGeom prst="line">
            <a:avLst/>
          </a:prstGeom>
          <a:noFill/>
          <a:ln w="8890">
            <a:solidFill>
              <a:srgbClr val="3650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4002877"/>
            <a:ext cx="655808" cy="-290779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615928" y="3712098"/>
            <a:ext cx="715427" cy="135697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331354" y="3847795"/>
            <a:ext cx="655808" cy="-407091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987162" y="3440704"/>
            <a:ext cx="655808" cy="116312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642970" y="3557016"/>
            <a:ext cx="715427" cy="-329550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4358396" y="3227466"/>
            <a:ext cx="655808" cy="135697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014204" y="3363163"/>
            <a:ext cx="655808" cy="-290779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5670012" y="3072384"/>
            <a:ext cx="655808" cy="116312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325819" y="3188696"/>
            <a:ext cx="596189" cy="-290779"/>
          </a:xfrm>
          <a:prstGeom prst="line">
            <a:avLst/>
          </a:prstGeom>
          <a:noFill/>
          <a:ln w="27940">
            <a:solidFill>
              <a:srgbClr val="38B6C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60120" y="4216116"/>
            <a:ext cx="655808" cy="-290779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615928" y="3925336"/>
            <a:ext cx="715427" cy="135697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331354" y="4061033"/>
            <a:ext cx="655808" cy="-310164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2987162" y="3750869"/>
            <a:ext cx="655808" cy="-329550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3642970" y="3421319"/>
            <a:ext cx="715427" cy="-155082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358396" y="3266237"/>
            <a:ext cx="655808" cy="-116312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014204" y="3149925"/>
            <a:ext cx="655808" cy="155082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670012" y="3305007"/>
            <a:ext cx="655808" cy="-310164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325819" y="2994843"/>
            <a:ext cx="596189" cy="-116312"/>
          </a:xfrm>
          <a:prstGeom prst="line">
            <a:avLst/>
          </a:prstGeom>
          <a:noFill/>
          <a:ln w="27940">
            <a:solidFill>
              <a:srgbClr val="F28C45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69264" y="4768596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70432" y="47365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petrol price (USD/L)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90672" y="4768596"/>
            <a:ext cx="128016" cy="128016"/>
          </a:xfrm>
          <a:prstGeom prst="roundRect">
            <a:avLst>
              <a:gd name="adj" fmla="val 28571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91840" y="473659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Brent crude (USD/bbl)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047488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B9CB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Schematic only: the lines illustrate how to read the dual-axis view; they are not plotted source observations.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80960" y="1700784"/>
            <a:ext cx="384048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0" y="1700784"/>
            <a:ext cx="64008" cy="1024128"/>
          </a:xfrm>
          <a:prstGeom prst="roundRect">
            <a:avLst>
              <a:gd name="adj" fmla="val 71429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36992" y="1911096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•  Match the time period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936992" y="2221992"/>
            <a:ext cx="3218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whether dates are monthly, quarterly or yearly.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80960" y="2880360"/>
            <a:ext cx="384048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80960" y="2880360"/>
            <a:ext cx="64008" cy="1024128"/>
          </a:xfrm>
          <a:prstGeom prst="roundRect">
            <a:avLst>
              <a:gd name="adj" fmla="val 71429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36992" y="309067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•  Respect the two axes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936992" y="3401568"/>
            <a:ext cx="3218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USD/L and USD/bbl are different units and scales.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680960" y="4059936"/>
            <a:ext cx="384048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80960" y="4059936"/>
            <a:ext cx="64008" cy="1024128"/>
          </a:xfrm>
          <a:prstGeom prst="roundRect">
            <a:avLst>
              <a:gd name="adj" fmla="val 71429"/>
            </a:avLst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36992" y="4270248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•  Look for timing and gaps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936992" y="4581144"/>
            <a:ext cx="32186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direction and turning points; don’t assume causality.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3504" y="5504688"/>
            <a:ext cx="10917936" cy="475488"/>
          </a:xfrm>
          <a:prstGeom prst="roundRect">
            <a:avLst>
              <a:gd name="adj" fmla="val 30769"/>
            </a:avLst>
          </a:prstGeom>
          <a:solidFill>
            <a:srgbClr val="EAF3FB"/>
          </a:solidFill>
          <a:ln w="12700">
            <a:solidFill>
              <a:srgbClr val="D7E6F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22960" y="5632704"/>
            <a:ext cx="10469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final report, replace this schematic with a freshly exported chart from the actual Tableau workbook.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 OF VISIBLE PATTERNS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current dashboard suggests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 these as descriptive observations from the displayed dashboard—not proof of what causes fuel prices to change.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673352"/>
            <a:ext cx="5266944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673352"/>
            <a:ext cx="64008" cy="1335024"/>
          </a:xfrm>
          <a:prstGeom prst="roundRect">
            <a:avLst>
              <a:gd name="adj" fmla="val 71429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562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1856232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 prices differ widely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223113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Hong Kong is the highest entry in the current top-10 view at 5.541 USD/L.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63056" y="1673352"/>
            <a:ext cx="5266944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63056" y="1673352"/>
            <a:ext cx="64008" cy="1335024"/>
          </a:xfrm>
          <a:prstGeom prst="roundRect">
            <a:avLst>
              <a:gd name="adj" fmla="val 71429"/>
            </a:avLst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2512" y="185623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1856232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 shares vary by region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23113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Oceania is highest at 38.69%, while South America is lowest at 15.82% in the displayed comparison.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" y="3291840"/>
            <a:ext cx="5266944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" y="3291840"/>
            <a:ext cx="64008" cy="1335024"/>
          </a:xfrm>
          <a:prstGeom prst="roundRect">
            <a:avLst>
              <a:gd name="adj" fmla="val 71429"/>
            </a:avLst>
          </a:prstGeom>
          <a:solidFill>
            <a:srgbClr val="7868C8"/>
          </a:solidFill>
          <a:ln w="12700">
            <a:solidFill>
              <a:srgbClr val="7868C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4747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7868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35608" y="347472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averages diverge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84962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displayed low-subsidy and high-income groups have the highest category averages in their respective charts.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3291840"/>
            <a:ext cx="5266944" cy="1335024"/>
          </a:xfrm>
          <a:prstGeom prst="roundRect">
            <a:avLst>
              <a:gd name="adj" fmla="val 10959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63056" y="3291840"/>
            <a:ext cx="64008" cy="1335024"/>
          </a:xfrm>
          <a:prstGeom prst="roundRect">
            <a:avLst>
              <a:gd name="adj" fmla="val 71429"/>
            </a:avLst>
          </a:prstGeom>
          <a:solidFill>
            <a:srgbClr val="2374AB"/>
          </a:solidFill>
          <a:ln w="12700">
            <a:solidFill>
              <a:srgbClr val="2374A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347472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474720"/>
            <a:ext cx="40690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context matters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84962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time-series view should be read alongside crude-oil movement, using each axis’s own units.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" y="5138928"/>
            <a:ext cx="10826496" cy="768096"/>
          </a:xfrm>
          <a:prstGeom prst="roundRect">
            <a:avLst>
              <a:gd name="adj" fmla="val 19048"/>
            </a:avLst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53400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90" kern="0" dirty="0">
                <a:solidFill>
                  <a:srgbClr val="38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CHECKS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063240" y="52760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the CSV, filters, aggregation level, data coverage and units before treating displayed values as final results.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6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023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useful starting point for fuel-price comparison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064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dashboard consolidates several dimensions into one accessible visual analysis.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3504" y="1682496"/>
            <a:ext cx="5248656" cy="358444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682496"/>
            <a:ext cx="64008" cy="3584448"/>
          </a:xfrm>
          <a:prstGeom prst="roundRect">
            <a:avLst>
              <a:gd name="adj" fmla="val 71429"/>
            </a:avLst>
          </a:prstGeom>
          <a:solidFill>
            <a:srgbClr val="1C9A94"/>
          </a:solidFill>
          <a:ln w="12700">
            <a:solidFill>
              <a:srgbClr val="1C9A94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19751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20" kern="0" dirty="0">
                <a:solidFill>
                  <a:srgbClr val="1C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77440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demonstrates how Tableau can bring together geographic patterns, rankings, time trends and category comparisons to explore fuel prices and taxation.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840480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filters help users narrow the view and ask more focused questions.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682496"/>
            <a:ext cx="5394960" cy="3584448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682496"/>
            <a:ext cx="64008" cy="3584448"/>
          </a:xfrm>
          <a:prstGeom prst="roundRect">
            <a:avLst>
              <a:gd name="adj" fmla="val 71429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9088" y="19751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100" kern="0" dirty="0">
                <a:solidFill>
                  <a:srgbClr val="F28C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 TO ACKNOWLEDGE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28232" y="2491740"/>
            <a:ext cx="82296" cy="82296"/>
          </a:xfrm>
          <a:prstGeom prst="ellipse">
            <a:avLst/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11112" y="2395728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are averages and may hide differences within a country.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28232" y="3058668"/>
            <a:ext cx="82296" cy="82296"/>
          </a:xfrm>
          <a:prstGeom prst="ellipse">
            <a:avLst/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11112" y="2962656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depends on the dataset’s date range and country coverage.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28232" y="3625596"/>
            <a:ext cx="82296" cy="82296"/>
          </a:xfrm>
          <a:prstGeom prst="ellipse">
            <a:avLst/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11112" y="352958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Tax, subsidy and income categories may not be directly comparable.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28232" y="4192524"/>
            <a:ext cx="82296" cy="82296"/>
          </a:xfrm>
          <a:prstGeom prst="ellipse">
            <a:avLst/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11112" y="409651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828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associations do not establish cause and effect.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" y="5513832"/>
            <a:ext cx="10917936" cy="493776"/>
          </a:xfrm>
          <a:prstGeom prst="roundRect">
            <a:avLst>
              <a:gd name="adj" fmla="val 29630"/>
            </a:avLst>
          </a:prstGeom>
          <a:solidFill>
            <a:srgbClr val="EAF3FB"/>
          </a:solidFill>
          <a:ln w="12700">
            <a:solidFill>
              <a:srgbClr val="D7E6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5650992"/>
            <a:ext cx="103327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step: validate all displayed figures against the original dataset and publish the final workbook when it is ready.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73839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F"/>
          </a:solidFill>
          <a:ln w="12700">
            <a:solidFill>
              <a:srgbClr val="1023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85800"/>
            <a:ext cx="2560320" cy="109728"/>
          </a:xfrm>
          <a:prstGeom prst="roundRect">
            <a:avLst>
              <a:gd name="adj" fmla="val 41667"/>
            </a:avLst>
          </a:prstGeom>
          <a:solidFill>
            <a:srgbClr val="38B6C8"/>
          </a:solidFill>
          <a:ln w="12700">
            <a:solidFill>
              <a:srgbClr val="38B6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932688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F28C45"/>
          </a:solidFill>
          <a:ln w="12700">
            <a:solidFill>
              <a:srgbClr val="F28C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0" y="1124712"/>
            <a:ext cx="1463040" cy="54864"/>
          </a:xfrm>
          <a:prstGeom prst="roundRect">
            <a:avLst>
              <a:gd name="adj" fmla="val 50000"/>
            </a:avLst>
          </a:prstGeom>
          <a:solidFill>
            <a:srgbClr val="F4C95D"/>
          </a:solidFill>
          <a:ln w="12700">
            <a:solidFill>
              <a:srgbClr val="F4C95D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841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spc="220" kern="0" dirty="0">
                <a:solidFill>
                  <a:srgbClr val="38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3258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&amp; discussion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1396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C5D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Fuel Prices and Taxation Trends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" y="2880360"/>
            <a:ext cx="6126480" cy="18288"/>
          </a:xfrm>
          <a:prstGeom prst="roundRect">
            <a:avLst>
              <a:gd name="adj" fmla="val 50000"/>
            </a:avLst>
          </a:prstGeom>
          <a:solidFill>
            <a:srgbClr val="37516B"/>
          </a:solidFill>
          <a:ln w="12700">
            <a:solidFill>
              <a:srgbClr val="37516B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32186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20" kern="0" dirty="0">
                <a:solidFill>
                  <a:srgbClr val="8FB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BY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511296"/>
            <a:ext cx="4023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Vidhi Sharma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9410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5D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en25cs3011043@medicaps.ac.in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" y="4645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110" kern="0" dirty="0">
                <a:solidFill>
                  <a:srgbClr val="38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" y="4937760"/>
            <a:ext cx="7909560" cy="566928"/>
          </a:xfrm>
          <a:prstGeom prst="roundRect">
            <a:avLst>
              <a:gd name="adj" fmla="val 22581"/>
            </a:avLst>
          </a:prstGeom>
          <a:solidFill>
            <a:srgbClr val="193655"/>
          </a:solidFill>
          <a:ln w="12700">
            <a:solidFill>
              <a:srgbClr val="3151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8408" y="510235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[ADD YOUR GITHUB REPOSITORY URL HERE]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5705856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70" kern="0" dirty="0">
                <a:solidFill>
                  <a:srgbClr val="8FB4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TABLEAU PUBLIC DASHBOARD (ADD AFTER PUBLISHING)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59710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5D8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[ADD YOUR TABLEAU PUBLIC LINK HERE]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60624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i="1" dirty="0">
                <a:solidFill>
                  <a:srgbClr val="38B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Medicaps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Fuel Prices and Taxation Trends</dc:title>
  <dc:subject>Global Fuel Prices and Taxation Trends</dc:subject>
  <dc:creator>Vidhi Sharma</dc:creator>
  <cp:lastModifiedBy>Vidhi Sharma</cp:lastModifiedBy>
  <cp:revision>1</cp:revision>
  <dcterms:created xsi:type="dcterms:W3CDTF">2026-10-27T17:58:13Z</dcterms:created>
  <dcterms:modified xsi:type="dcterms:W3CDTF">2026-10-27T17:58:13Z</dcterms:modified>
</cp:coreProperties>
</file>